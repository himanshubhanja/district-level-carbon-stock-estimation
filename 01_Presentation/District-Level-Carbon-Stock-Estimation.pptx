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9" r:id="rId3"/>
    <p:sldId id="257" r:id="rId4"/>
    <p:sldId id="258" r:id="rId5"/>
    <p:sldId id="259" r:id="rId6"/>
    <p:sldId id="267" r:id="rId7"/>
    <p:sldId id="260" r:id="rId8"/>
    <p:sldId id="268" r:id="rId9"/>
    <p:sldId id="262" r:id="rId10"/>
    <p:sldId id="263" r:id="rId11"/>
    <p:sldId id="264" r:id="rId12"/>
    <p:sldId id="265" r:id="rId13"/>
    <p:sldId id="271" r:id="rId14"/>
    <p:sldId id="272" r:id="rId15"/>
    <p:sldId id="266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34" autoAdjust="0"/>
    <p:restoredTop sz="94610"/>
  </p:normalViewPr>
  <p:slideViewPr>
    <p:cSldViewPr snapToGrid="0" snapToObjects="1">
      <p:cViewPr>
        <p:scale>
          <a:sx n="101" d="100"/>
          <a:sy n="101" d="100"/>
        </p:scale>
        <p:origin x="-360" y="8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F4E66F-377A-47AA-805B-1643BF816008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614D7A-EF75-4958-A7D1-C35A1CB973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362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D4F8A">
              <a:alpha val="40000"/>
            </a:srgbClr>
          </a:solidFill>
          <a:ln w="12700">
            <a:solidFill>
              <a:srgbClr val="0D4F8A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560320"/>
            <a:ext cx="2011680" cy="2011680"/>
          </a:xfrm>
          <a:prstGeom prst="ellipse">
            <a:avLst/>
          </a:prstGeom>
          <a:solidFill>
            <a:srgbClr val="1ABC9C">
              <a:alpha val="25000"/>
            </a:srgbClr>
          </a:solidFill>
          <a:ln w="12700">
            <a:solidFill>
              <a:srgbClr val="1ABC9C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CARBON STOCK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ABC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 System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365760" y="2286000"/>
            <a:ext cx="4114800" cy="3657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42316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Grid-Based ML Estimation of Carbon Stock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Ludhiana District, Punjab, India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34747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IIRS — Indian Institute of Remote Sensing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 Project  |  Academic Year 2025–26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4343400"/>
            <a:ext cx="2011680" cy="658368"/>
          </a:xfrm>
          <a:prstGeom prst="rect">
            <a:avLst/>
          </a:prstGeom>
          <a:solidFill>
            <a:srgbClr val="0A2F57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3708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66,790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" y="466344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Cells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78608" y="4343400"/>
            <a:ext cx="2011680" cy="658368"/>
          </a:xfrm>
          <a:prstGeom prst="rect">
            <a:avLst/>
          </a:prstGeom>
          <a:solidFill>
            <a:srgbClr val="0A2F57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78608" y="43708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250m × 250m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578608" y="466344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91456" y="4343400"/>
            <a:ext cx="2011680" cy="658368"/>
          </a:xfrm>
          <a:prstGeom prst="rect">
            <a:avLst/>
          </a:prstGeom>
          <a:solidFill>
            <a:srgbClr val="0A2F57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43708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54.23 MtC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91456" y="466344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Carbon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94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CONTRIBUTIONS — INDIVIDUAL ROLES &amp; DELIVERABLES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D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M.Sc. Agriculture Analytics  ·  DA-IICT / IIRS Dehradun  ·  Faculty: Scientist Kapil Oberoi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384048" y="996696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Bhanja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Institute of Remote Sensing (IIRS) — BDA Project 2025-26</a:t>
            </a:r>
            <a:endParaRPr lang="en-US" sz="900" dirty="0"/>
          </a:p>
        </p:txBody>
      </p:sp>
      <p:sp>
        <p:nvSpPr>
          <p:cNvPr id="31" name="Shape 4"/>
          <p:cNvSpPr/>
          <p:nvPr/>
        </p:nvSpPr>
        <p:spPr>
          <a:xfrm>
            <a:off x="201168" y="996696"/>
            <a:ext cx="4187952" cy="1929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5"/>
          <p:cNvSpPr/>
          <p:nvPr/>
        </p:nvSpPr>
        <p:spPr>
          <a:xfrm>
            <a:off x="201168" y="996696"/>
            <a:ext cx="91440" cy="1929384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6"/>
          <p:cNvSpPr/>
          <p:nvPr/>
        </p:nvSpPr>
        <p:spPr>
          <a:xfrm>
            <a:off x="384048" y="914400"/>
            <a:ext cx="388620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400" dirty="0"/>
          </a:p>
        </p:txBody>
      </p:sp>
      <p:sp>
        <p:nvSpPr>
          <p:cNvPr id="34" name="Text 7"/>
          <p:cNvSpPr/>
          <p:nvPr/>
        </p:nvSpPr>
        <p:spPr>
          <a:xfrm>
            <a:off x="384048" y="1212089"/>
            <a:ext cx="3886200" cy="4246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— Soil Datasets</a:t>
            </a:r>
            <a:endParaRPr lang="en-US" sz="1200" dirty="0"/>
          </a:p>
        </p:txBody>
      </p:sp>
      <p:sp>
        <p:nvSpPr>
          <p:cNvPr id="35" name="Text 8"/>
          <p:cNvSpPr/>
          <p:nvPr/>
        </p:nvSpPr>
        <p:spPr>
          <a:xfrm>
            <a:off x="384048" y="1493520"/>
            <a:ext cx="393192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just">
              <a:buFont typeface="Arial" pitchFamily="34" charset="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ISRIC SoilGrids 2.0 soil properties (SOC, Bulk Density, Clay, Sand)</a:t>
            </a:r>
            <a:endParaRPr lang="en-US" sz="1200" dirty="0"/>
          </a:p>
        </p:txBody>
      </p:sp>
      <p:sp>
        <p:nvSpPr>
          <p:cNvPr id="36" name="Text 9"/>
          <p:cNvSpPr/>
          <p:nvPr/>
        </p:nvSpPr>
        <p:spPr>
          <a:xfrm>
            <a:off x="384048" y="1862328"/>
            <a:ext cx="393192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just">
              <a:buFont typeface="Arial" pitchFamily="34" charset="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alignment of soil layers with 250 m grid framework</a:t>
            </a:r>
            <a:endParaRPr lang="en-US" sz="1200" dirty="0"/>
          </a:p>
        </p:txBody>
      </p:sp>
      <p:sp>
        <p:nvSpPr>
          <p:cNvPr id="37" name="Text 10"/>
          <p:cNvSpPr/>
          <p:nvPr/>
        </p:nvSpPr>
        <p:spPr>
          <a:xfrm>
            <a:off x="384048" y="2240280"/>
            <a:ext cx="393192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just">
              <a:buFont typeface="Arial" pitchFamily="34" charset="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validation and outlier detection for BGC modelling</a:t>
            </a:r>
            <a:endParaRPr lang="en-US" sz="1200" dirty="0"/>
          </a:p>
        </p:txBody>
      </p:sp>
      <p:sp>
        <p:nvSpPr>
          <p:cNvPr id="44" name="Shape 18"/>
          <p:cNvSpPr/>
          <p:nvPr/>
        </p:nvSpPr>
        <p:spPr>
          <a:xfrm>
            <a:off x="201168" y="2980471"/>
            <a:ext cx="4187952" cy="192403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Shape 19"/>
          <p:cNvSpPr/>
          <p:nvPr/>
        </p:nvSpPr>
        <p:spPr>
          <a:xfrm>
            <a:off x="205324" y="2980471"/>
            <a:ext cx="91440" cy="192403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20"/>
          <p:cNvSpPr/>
          <p:nvPr/>
        </p:nvSpPr>
        <p:spPr>
          <a:xfrm>
            <a:off x="406908" y="3015196"/>
            <a:ext cx="3886200" cy="30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400" dirty="0"/>
          </a:p>
        </p:txBody>
      </p:sp>
      <p:sp>
        <p:nvSpPr>
          <p:cNvPr id="47" name="Text 21"/>
          <p:cNvSpPr/>
          <p:nvPr/>
        </p:nvSpPr>
        <p:spPr>
          <a:xfrm>
            <a:off x="406908" y="3307804"/>
            <a:ext cx="3886200" cy="223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— PostgreSQL/PostGIS &amp; MongoDB</a:t>
            </a:r>
            <a:endParaRPr lang="en-US" sz="1200" dirty="0"/>
          </a:p>
        </p:txBody>
      </p:sp>
      <p:sp>
        <p:nvSpPr>
          <p:cNvPr id="48" name="Text 22"/>
          <p:cNvSpPr/>
          <p:nvPr/>
        </p:nvSpPr>
        <p:spPr>
          <a:xfrm>
            <a:off x="406908" y="3641343"/>
            <a:ext cx="3931920" cy="30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just">
              <a:buFont typeface="Arial" pitchFamily="34" charset="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spatial database schema using PostgreSQL + PostGIS extension</a:t>
            </a:r>
            <a:endParaRPr lang="en-US" sz="1200" dirty="0"/>
          </a:p>
        </p:txBody>
      </p:sp>
      <p:sp>
        <p:nvSpPr>
          <p:cNvPr id="49" name="Text 23"/>
          <p:cNvSpPr/>
          <p:nvPr/>
        </p:nvSpPr>
        <p:spPr>
          <a:xfrm>
            <a:off x="384048" y="4024604"/>
            <a:ext cx="3931920" cy="30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just">
              <a:buFont typeface="Arial" pitchFamily="34" charset="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250 m polygon grid with real WKB geometry (66,790 cells)</a:t>
            </a:r>
            <a:endParaRPr lang="en-US" sz="1200" dirty="0"/>
          </a:p>
        </p:txBody>
      </p:sp>
      <p:sp>
        <p:nvSpPr>
          <p:cNvPr id="50" name="Text 24"/>
          <p:cNvSpPr/>
          <p:nvPr/>
        </p:nvSpPr>
        <p:spPr>
          <a:xfrm>
            <a:off x="384048" y="4471705"/>
            <a:ext cx="3931920" cy="30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just">
              <a:buFont typeface="Arial" pitchFamily="34" charset="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MongoDB Atlas for prediction storage and REST API layer</a:t>
            </a:r>
            <a:endParaRPr lang="en-US" sz="1200" dirty="0"/>
          </a:p>
        </p:txBody>
      </p:sp>
      <p:sp>
        <p:nvSpPr>
          <p:cNvPr id="51" name="Shape 25"/>
          <p:cNvSpPr/>
          <p:nvPr/>
        </p:nvSpPr>
        <p:spPr>
          <a:xfrm>
            <a:off x="4572000" y="2980471"/>
            <a:ext cx="4187952" cy="192403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Shape 26"/>
          <p:cNvSpPr/>
          <p:nvPr/>
        </p:nvSpPr>
        <p:spPr>
          <a:xfrm>
            <a:off x="4576156" y="2980471"/>
            <a:ext cx="91440" cy="192403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27"/>
          <p:cNvSpPr/>
          <p:nvPr/>
        </p:nvSpPr>
        <p:spPr>
          <a:xfrm>
            <a:off x="4777740" y="3015196"/>
            <a:ext cx="3886200" cy="30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400" dirty="0"/>
          </a:p>
        </p:txBody>
      </p:sp>
      <p:sp>
        <p:nvSpPr>
          <p:cNvPr id="54" name="Text 28"/>
          <p:cNvSpPr/>
          <p:nvPr/>
        </p:nvSpPr>
        <p:spPr>
          <a:xfrm>
            <a:off x="4777740" y="3307804"/>
            <a:ext cx="3886200" cy="223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Pipeline, Dashboard &amp; Website</a:t>
            </a:r>
            <a:endParaRPr lang="en-US" sz="1200" dirty="0"/>
          </a:p>
        </p:txBody>
      </p:sp>
      <p:sp>
        <p:nvSpPr>
          <p:cNvPr id="55" name="Text 29"/>
          <p:cNvSpPr/>
          <p:nvPr/>
        </p:nvSpPr>
        <p:spPr>
          <a:xfrm>
            <a:off x="4777740" y="3630488"/>
            <a:ext cx="3931920" cy="30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just">
              <a:buFont typeface="Arial" pitchFamily="34" charset="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engineering: NDVI trend slope, 34-feature design matrix</a:t>
            </a:r>
            <a:endParaRPr lang="en-US" sz="1200" dirty="0"/>
          </a:p>
        </p:txBody>
      </p:sp>
      <p:sp>
        <p:nvSpPr>
          <p:cNvPr id="56" name="Text 30"/>
          <p:cNvSpPr/>
          <p:nvPr/>
        </p:nvSpPr>
        <p:spPr>
          <a:xfrm>
            <a:off x="4754880" y="4024604"/>
            <a:ext cx="3931920" cy="30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just">
              <a:buFont typeface="Arial" pitchFamily="34" charset="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Trained/validated Random Forest models (AGC R²=0.54, BGC R²=0.97)</a:t>
            </a:r>
            <a:endParaRPr lang="en-US" sz="1200" dirty="0"/>
          </a:p>
        </p:txBody>
      </p:sp>
      <p:sp>
        <p:nvSpPr>
          <p:cNvPr id="57" name="Text 31"/>
          <p:cNvSpPr/>
          <p:nvPr/>
        </p:nvSpPr>
        <p:spPr>
          <a:xfrm>
            <a:off x="4754880" y="4471705"/>
            <a:ext cx="3931920" cy="30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just">
              <a:buFont typeface="Arial" pitchFamily="34" charset="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carbon-intelligence.onrender.com — full-stack web platform with live maps, analytics, explorer, and CSV export</a:t>
            </a:r>
            <a:endParaRPr lang="en-US" sz="1200" dirty="0"/>
          </a:p>
        </p:txBody>
      </p:sp>
      <p:sp>
        <p:nvSpPr>
          <p:cNvPr id="60" name="Shape 11"/>
          <p:cNvSpPr/>
          <p:nvPr/>
        </p:nvSpPr>
        <p:spPr>
          <a:xfrm>
            <a:off x="4572000" y="996696"/>
            <a:ext cx="4187952" cy="1929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1" name="Shape 12"/>
          <p:cNvSpPr/>
          <p:nvPr/>
        </p:nvSpPr>
        <p:spPr>
          <a:xfrm>
            <a:off x="4572000" y="996696"/>
            <a:ext cx="91440" cy="1929384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13"/>
          <p:cNvSpPr/>
          <p:nvPr/>
        </p:nvSpPr>
        <p:spPr>
          <a:xfrm>
            <a:off x="4754880" y="914400"/>
            <a:ext cx="388620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400" dirty="0"/>
          </a:p>
        </p:txBody>
      </p:sp>
      <p:sp>
        <p:nvSpPr>
          <p:cNvPr id="63" name="Text 14"/>
          <p:cNvSpPr/>
          <p:nvPr/>
        </p:nvSpPr>
        <p:spPr>
          <a:xfrm>
            <a:off x="4754880" y="1207655"/>
            <a:ext cx="3886200" cy="4246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2D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— Remote Sensing</a:t>
            </a:r>
            <a:endParaRPr lang="en-US" sz="1200" dirty="0"/>
          </a:p>
        </p:txBody>
      </p:sp>
      <p:sp>
        <p:nvSpPr>
          <p:cNvPr id="64" name="Text 15"/>
          <p:cNvSpPr/>
          <p:nvPr/>
        </p:nvSpPr>
        <p:spPr>
          <a:xfrm>
            <a:off x="4754880" y="1493520"/>
            <a:ext cx="393192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just">
              <a:buFont typeface="Arial" pitchFamily="34" charset="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Acquired MODIS NPP, Sentinel-2 NDVI, LST, DEM via Google Earth Engine</a:t>
            </a:r>
            <a:endParaRPr lang="en-US" sz="1200" dirty="0"/>
          </a:p>
        </p:txBody>
      </p:sp>
      <p:sp>
        <p:nvSpPr>
          <p:cNvPr id="65" name="Text 16"/>
          <p:cNvSpPr/>
          <p:nvPr/>
        </p:nvSpPr>
        <p:spPr>
          <a:xfrm>
            <a:off x="4754880" y="1950720"/>
            <a:ext cx="393192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just">
              <a:buFont typeface="Arial" pitchFamily="34" charset="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NDVI temporal stack extraction (Jun 2024 – May 2025)</a:t>
            </a:r>
            <a:endParaRPr lang="en-US" sz="1200" dirty="0"/>
          </a:p>
        </p:txBody>
      </p:sp>
      <p:sp>
        <p:nvSpPr>
          <p:cNvPr id="66" name="Text 17"/>
          <p:cNvSpPr/>
          <p:nvPr/>
        </p:nvSpPr>
        <p:spPr>
          <a:xfrm>
            <a:off x="4754880" y="2243051"/>
            <a:ext cx="393192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just">
              <a:buFont typeface="Arial" pitchFamily="34" charset="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filtering of negative NPP values per MODIS literature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822960"/>
            <a:ext cx="2011680" cy="4023360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22960"/>
            <a:ext cx="2011680" cy="41148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8503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 Study Area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" y="1371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Ludhiana District, Punjab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" y="18470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66,790 grid cells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232257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250m × 250m resolution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" y="279806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~4,168 km² coverage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50592" y="822960"/>
            <a:ext cx="2011680" cy="4023360"/>
          </a:xfrm>
          <a:prstGeom prst="rect">
            <a:avLst/>
          </a:prstGeom>
          <a:solidFill>
            <a:srgbClr val="F0FAF7"/>
          </a:solidFill>
          <a:ln w="12700">
            <a:solidFill>
              <a:srgbClr val="D0E8F5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822960"/>
            <a:ext cx="2011680" cy="4114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8503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ML Pipeline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42032" y="1371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models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42032" y="18470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input features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42032" y="232257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 + terrain + soil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42032" y="279806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10k+ training samples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45152" y="822960"/>
            <a:ext cx="2011680" cy="4023360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45152" y="822960"/>
            <a:ext cx="2011680" cy="41148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5152" y="8503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Carbon Pools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36592" y="1371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Above-ground (AGC)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36592" y="18470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Below-ground (BGC)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36592" y="232257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NPP &amp; SOC based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36592" y="279806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54.23 MtC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39712" y="822960"/>
            <a:ext cx="2011680" cy="4023360"/>
          </a:xfrm>
          <a:prstGeom prst="rect">
            <a:avLst/>
          </a:prstGeom>
          <a:solidFill>
            <a:srgbClr val="F0FAF7"/>
          </a:solidFill>
          <a:ln w="12700">
            <a:solidFill>
              <a:srgbClr val="D0E8F5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39712" y="822960"/>
            <a:ext cx="2011680" cy="4114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39712" y="8503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Web Platform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31152" y="1371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PostGIS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31152" y="18470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31152" y="232257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 maps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31152" y="279806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Render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Institute of Remote Sensing (IIRS) — BDA Project 2025-26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SOURCES &amp; METHODOLOGY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931920" cy="4160520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3931920" cy="384048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955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Data Sources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3749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984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/ GEE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53619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NDVI (12 months)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3749040" cy="566928"/>
          </a:xfrm>
          <a:prstGeom prst="rect">
            <a:avLst/>
          </a:prstGeom>
          <a:solidFill>
            <a:srgbClr val="E8F4FB"/>
          </a:solidFill>
          <a:ln w="6350">
            <a:solidFill>
              <a:srgbClr val="D0E8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568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MODIS Terra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19456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Surface Temperature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578608"/>
            <a:ext cx="3749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151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SRTM 30m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85292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&amp; Slope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236976"/>
            <a:ext cx="3749040" cy="566928"/>
          </a:xfrm>
          <a:prstGeom prst="rect">
            <a:avLst/>
          </a:prstGeom>
          <a:solidFill>
            <a:srgbClr val="E8F4FB"/>
          </a:solidFill>
          <a:ln w="6350">
            <a:solidFill>
              <a:srgbClr val="D0E8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735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ISRIC SoilGrids 2.0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51129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SOC, Clay, Sand, Bulk Density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895344"/>
            <a:ext cx="3749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9319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of India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16966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Boundaries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777240"/>
            <a:ext cx="4206240" cy="4160520"/>
          </a:xfrm>
          <a:prstGeom prst="rect">
            <a:avLst/>
          </a:prstGeom>
          <a:solidFill>
            <a:srgbClr val="F0FAF7"/>
          </a:solidFill>
          <a:ln w="12700">
            <a:solidFill>
              <a:srgbClr val="C8EAE0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777240"/>
            <a:ext cx="420624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7955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  Carbon Formulas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1261872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A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2984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Above-Ground Carbon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15544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AGC (tC/ha) = NPP × 0.47 / 100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2395728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A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43230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Below-Ground Carbon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2688336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BGC (tC/ha) = SOC × BD × 30 / 10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3529584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A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5661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Input Features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38404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 monthly NDVI values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LST, precipitation (climate)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DEM, slope (terrain)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Clay, sand, BD (soil)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Institute of Remote Sensing (IIRS) — BDA Project 2025-26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MACHINE LEARNING MODELS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023360" cy="4160520"/>
          </a:xfrm>
          <a:prstGeom prst="rect">
            <a:avLst/>
          </a:prstGeom>
          <a:solidFill>
            <a:srgbClr val="F0FAF7"/>
          </a:solidFill>
          <a:ln w="12700">
            <a:solidFill>
              <a:srgbClr val="A9DFBF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023360" cy="4572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9552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Above-Ground Carbon Model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35024"/>
            <a:ext cx="3840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F5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13716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810512"/>
            <a:ext cx="3840480" cy="420624"/>
          </a:xfrm>
          <a:prstGeom prst="rect">
            <a:avLst/>
          </a:prstGeom>
          <a:solidFill>
            <a:srgbClr val="E9F7EF"/>
          </a:solidFill>
          <a:ln w="6350">
            <a:solidFill>
              <a:srgbClr val="D5F5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470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18470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NPP (gC/m²/yr)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286000"/>
            <a:ext cx="3840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F5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2257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Cells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0" y="232257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10,081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761488"/>
            <a:ext cx="3840480" cy="420624"/>
          </a:xfrm>
          <a:prstGeom prst="rect">
            <a:avLst/>
          </a:prstGeom>
          <a:solidFill>
            <a:srgbClr val="E9F7EF"/>
          </a:solidFill>
          <a:ln w="6350">
            <a:solidFill>
              <a:srgbClr val="D5F5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79806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Cells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86000" y="279806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2,521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40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F5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735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86000" y="32735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0.5426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712464"/>
            <a:ext cx="3840480" cy="420624"/>
          </a:xfrm>
          <a:prstGeom prst="rect">
            <a:avLst/>
          </a:prstGeom>
          <a:solidFill>
            <a:srgbClr val="E9F7EF"/>
          </a:solidFill>
          <a:ln w="6350">
            <a:solidFill>
              <a:srgbClr val="D5F5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7490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86000" y="37490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448.597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187952"/>
            <a:ext cx="3840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F5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2245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86000" y="42245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314.795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777240"/>
            <a:ext cx="4023360" cy="4160520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777240"/>
            <a:ext cx="4023360" cy="4572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79552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🪨  Below-Ground Carbon Model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937760" y="1335024"/>
            <a:ext cx="3840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13716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58000" y="13716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37760" y="1810512"/>
            <a:ext cx="3840480" cy="420624"/>
          </a:xfrm>
          <a:prstGeom prst="rect">
            <a:avLst/>
          </a:prstGeom>
          <a:solidFill>
            <a:srgbClr val="D6EAF8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18470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58000" y="18470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(g/kg)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937760" y="2286000"/>
            <a:ext cx="3840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0" y="232257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Cells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58000" y="232257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16,000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937760" y="2761488"/>
            <a:ext cx="3840480" cy="420624"/>
          </a:xfrm>
          <a:prstGeom prst="rect">
            <a:avLst/>
          </a:prstGeom>
          <a:solidFill>
            <a:srgbClr val="D6EAF8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0" y="279806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Cells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858000" y="279806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937760" y="3236976"/>
            <a:ext cx="3840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0" y="32735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858000" y="32735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0.9665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937760" y="3712464"/>
            <a:ext cx="3840480" cy="420624"/>
          </a:xfrm>
          <a:prstGeom prst="rect">
            <a:avLst/>
          </a:prstGeom>
          <a:solidFill>
            <a:srgbClr val="D6EAF8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0" y="37490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858000" y="37490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1.392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937760" y="4187952"/>
            <a:ext cx="3840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0" y="42245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858000" y="42245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1.012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Institute of Remote Sensing (IIRS) — BDA Project 2025-26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94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MODEL IMPROVEMENTS &amp; FEATURE ENGINEERING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589520" y="36576"/>
            <a:ext cx="521208" cy="521208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275320" y="36576"/>
            <a:ext cx="521208" cy="52120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74320" y="713232"/>
            <a:ext cx="8595360" cy="4389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74320" y="713232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🔼  Key Improvement: AGC R² increased from 0.4757 (midterm) → 0.5426 (final) — a 14% gain in predictive accuracy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274320" y="1261872"/>
            <a:ext cx="416052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274320" y="1261872"/>
            <a:ext cx="4160520" cy="40233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74320" y="1261872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— Feature Engineering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47472" y="1755648"/>
            <a:ext cx="402336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20624" y="175564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NDVI Trend (Slope)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20624" y="200253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coefficient across 12 monthly NDVI values — captures vegetation dynamics over the full growing season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47472" y="2304288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20624" y="230428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12 Monthly NDVI Bands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20624" y="255117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temporal stack Jun 2024 – May 2025 replaces a single annual NDVI value — Kharif &amp; Rabi cycles captured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47472" y="2852928"/>
            <a:ext cx="402336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20624" y="285292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🛰  Sentinel-2 Integration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20624" y="309981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Higher-resolution 10m NDVI supplements MODIS-derived productivity estimates for improved spatial accuracy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347472" y="3401568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20624" y="340156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Training Data Expanded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20624" y="364845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10,081 samples for AGC and 16,000 for BGC with stratified spatial sampling — reduces overfitting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347472" y="3950208"/>
            <a:ext cx="402336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20624" y="395020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Feature Count: 22 + 12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420624" y="419709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environmental features plus 12 monthly NDVI bands = 34 total model inputs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4709160" y="1261872"/>
            <a:ext cx="416052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2137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709160" y="1261872"/>
            <a:ext cx="4160520" cy="402336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709160" y="1261872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 — Final Version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4782312" y="1755648"/>
            <a:ext cx="4023360" cy="475488"/>
          </a:xfrm>
          <a:prstGeom prst="rect">
            <a:avLst/>
          </a:prstGeom>
          <a:solidFill>
            <a:srgbClr val="E3F2FD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4828032" y="1847088"/>
            <a:ext cx="292608" cy="2926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828032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5193792" y="175564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Acquisition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5193792" y="1993392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GEE: MODIS NPP, Sentinel-2 NDVI, SRTM DEM, ISRIC SoilGrids 2.0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4782312" y="228600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4828032" y="2377440"/>
            <a:ext cx="292608" cy="2926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828032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5193792" y="228600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Construction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5193792" y="2523744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250m PostGIS polygons — 66,790 cells, 50,402 classified as agricultural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4782312" y="2816352"/>
            <a:ext cx="4023360" cy="475488"/>
          </a:xfrm>
          <a:prstGeom prst="rect">
            <a:avLst/>
          </a:prstGeom>
          <a:solidFill>
            <a:srgbClr val="E3F2FD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4828032" y="2907792"/>
            <a:ext cx="292608" cy="2926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828032" y="2907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43" name="Text 39"/>
          <p:cNvSpPr/>
          <p:nvPr/>
        </p:nvSpPr>
        <p:spPr>
          <a:xfrm>
            <a:off x="5193792" y="2816352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44" name="Text 40"/>
          <p:cNvSpPr/>
          <p:nvPr/>
        </p:nvSpPr>
        <p:spPr>
          <a:xfrm>
            <a:off x="5193792" y="3054096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NDVI stack + trend slope + 10 terrain/soil features</a:t>
            </a:r>
            <a:endParaRPr lang="en-US" sz="950" dirty="0"/>
          </a:p>
        </p:txBody>
      </p:sp>
      <p:sp>
        <p:nvSpPr>
          <p:cNvPr id="45" name="Shape 41"/>
          <p:cNvSpPr/>
          <p:nvPr/>
        </p:nvSpPr>
        <p:spPr>
          <a:xfrm>
            <a:off x="4782312" y="3346704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4828032" y="3438144"/>
            <a:ext cx="292608" cy="2926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4828032" y="3438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5193792" y="3346704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100" dirty="0"/>
          </a:p>
        </p:txBody>
      </p:sp>
      <p:sp>
        <p:nvSpPr>
          <p:cNvPr id="49" name="Text 45"/>
          <p:cNvSpPr/>
          <p:nvPr/>
        </p:nvSpPr>
        <p:spPr>
          <a:xfrm>
            <a:off x="5193792" y="3584448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Regressor — separate AGC and BGC models</a:t>
            </a:r>
            <a:endParaRPr lang="en-US" sz="950" dirty="0"/>
          </a:p>
        </p:txBody>
      </p:sp>
      <p:sp>
        <p:nvSpPr>
          <p:cNvPr id="50" name="Shape 46"/>
          <p:cNvSpPr/>
          <p:nvPr/>
        </p:nvSpPr>
        <p:spPr>
          <a:xfrm>
            <a:off x="4782312" y="3877056"/>
            <a:ext cx="4023360" cy="475488"/>
          </a:xfrm>
          <a:prstGeom prst="rect">
            <a:avLst/>
          </a:prstGeom>
          <a:solidFill>
            <a:srgbClr val="E3F2FD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4828032" y="3968496"/>
            <a:ext cx="292608" cy="2926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4828032" y="3968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53" name="Text 49"/>
          <p:cNvSpPr/>
          <p:nvPr/>
        </p:nvSpPr>
        <p:spPr>
          <a:xfrm>
            <a:off x="5193792" y="3877056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&amp; Mapping</a:t>
            </a:r>
            <a:endParaRPr lang="en-US" sz="1100" dirty="0"/>
          </a:p>
        </p:txBody>
      </p:sp>
      <p:sp>
        <p:nvSpPr>
          <p:cNvPr id="54" name="Text 50"/>
          <p:cNvSpPr/>
          <p:nvPr/>
        </p:nvSpPr>
        <p:spPr>
          <a:xfrm>
            <a:off x="5193792" y="4114800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Full-district prediction → stored in MongoDB → rendered via PostGIS</a:t>
            </a:r>
            <a:endParaRPr lang="en-US" sz="950" dirty="0"/>
          </a:p>
        </p:txBody>
      </p:sp>
      <p:sp>
        <p:nvSpPr>
          <p:cNvPr id="55" name="Shape 51"/>
          <p:cNvSpPr/>
          <p:nvPr/>
        </p:nvSpPr>
        <p:spPr>
          <a:xfrm>
            <a:off x="4782312" y="4407408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4828032" y="4498848"/>
            <a:ext cx="292608" cy="2926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4828032" y="4498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  <p:sp>
        <p:nvSpPr>
          <p:cNvPr id="58" name="Text 54"/>
          <p:cNvSpPr/>
          <p:nvPr/>
        </p:nvSpPr>
        <p:spPr>
          <a:xfrm>
            <a:off x="5193792" y="440740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Platform</a:t>
            </a:r>
            <a:endParaRPr lang="en-US" sz="1100" dirty="0"/>
          </a:p>
        </p:txBody>
      </p:sp>
      <p:sp>
        <p:nvSpPr>
          <p:cNvPr id="59" name="Text 55"/>
          <p:cNvSpPr/>
          <p:nvPr/>
        </p:nvSpPr>
        <p:spPr>
          <a:xfrm>
            <a:off x="5193792" y="4645152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carbon-intelligence.onrender.com — live dashboard + explorer</a:t>
            </a:r>
            <a:endParaRPr lang="en-US" sz="950" dirty="0"/>
          </a:p>
        </p:txBody>
      </p:sp>
      <p:sp>
        <p:nvSpPr>
          <p:cNvPr id="60" name="Shape 56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Institute of Remote Sensing (IIRS) — BDA Project 2025-26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CARBON STOCK RESULTS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011680" cy="1508760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77240"/>
            <a:ext cx="2011680" cy="109728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144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3B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54.23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28600" y="15361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 tC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" y="1773936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Carbon Stock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41448" y="777240"/>
            <a:ext cx="2011680" cy="1508760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41448" y="777240"/>
            <a:ext cx="2011680" cy="10972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41448" y="9144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844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1.6678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441448" y="15361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 tC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41448" y="1773936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Above-Ground Carbon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54296" y="777240"/>
            <a:ext cx="2011680" cy="1508760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54296" y="777240"/>
            <a:ext cx="2011680" cy="10972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54296" y="9144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52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52.56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654296" y="15361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 tC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54296" y="1773936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Below-Ground Carbon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67144" y="777240"/>
            <a:ext cx="2011680" cy="1508760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67144" y="777240"/>
            <a:ext cx="2011680" cy="10972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67144" y="9144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198.9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867144" y="15361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 tCO₂e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67144" y="1773936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Equivalent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2468880"/>
            <a:ext cx="4206240" cy="2331720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2468880"/>
            <a:ext cx="4206240" cy="36576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248716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Pool Breakdown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11480" y="29443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Below-Ground (BGC)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11480" y="3218688"/>
            <a:ext cx="3749040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21868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96.92%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11480" y="3657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Above-Ground (AGC)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11480" y="3931920"/>
            <a:ext cx="164592" cy="2926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9319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3.08%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09160" y="2468880"/>
            <a:ext cx="4206240" cy="2331720"/>
          </a:xfrm>
          <a:prstGeom prst="rect">
            <a:avLst/>
          </a:prstGeom>
          <a:solidFill>
            <a:srgbClr val="F0FAF7"/>
          </a:solidFill>
          <a:ln w="12700">
            <a:solidFill>
              <a:srgbClr val="A9DFBF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2468880"/>
            <a:ext cx="4206240" cy="3657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248716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Carbon Density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800600" y="2944368"/>
            <a:ext cx="4023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5F5E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297180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Above-Ground (AGC)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178040" y="297180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6.83 tC/ha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00600" y="3364992"/>
            <a:ext cx="4023360" cy="365760"/>
          </a:xfrm>
          <a:prstGeom prst="rect">
            <a:avLst/>
          </a:prstGeom>
          <a:solidFill>
            <a:srgbClr val="E9F7EF"/>
          </a:solidFill>
          <a:ln w="6350">
            <a:solidFill>
              <a:srgbClr val="D5F5E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339242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Below-Ground (BGC)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178040" y="339242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125.91 tC/ha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00600" y="3785616"/>
            <a:ext cx="4023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5F5E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381304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District AGC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178040" y="381304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1,667,771 tC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00600" y="4206240"/>
            <a:ext cx="4023360" cy="365760"/>
          </a:xfrm>
          <a:prstGeom prst="rect">
            <a:avLst/>
          </a:prstGeom>
          <a:solidFill>
            <a:srgbClr val="E9F7EF"/>
          </a:solidFill>
          <a:ln w="6350">
            <a:solidFill>
              <a:srgbClr val="D5F5E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423367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District BGC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178040" y="423367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52,560,180 tC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Institute of Remote Sensing (IIRS) — BDA Project 2025-26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94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 — 12-MONTH NDVI STACK &amp; TREND FEATURE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589520" y="36576"/>
            <a:ext cx="521208" cy="521208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275320" y="36576"/>
            <a:ext cx="521208" cy="52120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74320" y="685800"/>
            <a:ext cx="56692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74320" y="6858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NDVI — Ludhiana District (Jun 2024 – May 2025)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548640" y="4185920"/>
            <a:ext cx="521208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0040" y="407619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9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548640" y="3616960"/>
            <a:ext cx="521208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20040" y="350723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9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548640" y="3048000"/>
            <a:ext cx="521208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20040" y="293827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9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548640" y="2479040"/>
            <a:ext cx="521208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20040" y="236931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9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594360" y="2874264"/>
            <a:ext cx="347472" cy="1194816"/>
          </a:xfrm>
          <a:prstGeom prst="rect">
            <a:avLst/>
          </a:prstGeom>
          <a:solidFill>
            <a:srgbClr val="007A6C"/>
          </a:solidFill>
          <a:ln w="12700">
            <a:solidFill>
              <a:srgbClr val="007A6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66928" y="408736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D3E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Jun 24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1005840" y="2333752"/>
            <a:ext cx="347472" cy="1735328"/>
          </a:xfrm>
          <a:prstGeom prst="rect">
            <a:avLst/>
          </a:prstGeom>
          <a:solidFill>
            <a:srgbClr val="007A6C"/>
          </a:solidFill>
          <a:ln w="12700">
            <a:solidFill>
              <a:srgbClr val="007A6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78408" y="408736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D3E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Jul 24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1417320" y="1924101"/>
            <a:ext cx="347472" cy="2144979"/>
          </a:xfrm>
          <a:prstGeom prst="rect">
            <a:avLst/>
          </a:prstGeom>
          <a:solidFill>
            <a:srgbClr val="007A6C"/>
          </a:solidFill>
          <a:ln w="12700">
            <a:solidFill>
              <a:srgbClr val="007A6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389888" y="408736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D3E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Aug 24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1417320" y="1722933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A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0.754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1828800" y="2020824"/>
            <a:ext cx="347472" cy="2048256"/>
          </a:xfrm>
          <a:prstGeom prst="rect">
            <a:avLst/>
          </a:prstGeom>
          <a:solidFill>
            <a:srgbClr val="007A6C"/>
          </a:solidFill>
          <a:ln w="12700">
            <a:solidFill>
              <a:srgbClr val="007A6C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801368" y="408736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D3E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 24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1828800" y="181965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A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0.72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2240280" y="2504440"/>
            <a:ext cx="347472" cy="1564640"/>
          </a:xfrm>
          <a:prstGeom prst="rect">
            <a:avLst/>
          </a:prstGeom>
          <a:solidFill>
            <a:srgbClr val="007A6C"/>
          </a:solidFill>
          <a:ln w="12700">
            <a:solidFill>
              <a:srgbClr val="007A6C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2212848" y="408736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D3E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Oct 24</a:t>
            </a:r>
            <a:endParaRPr lang="en-US" sz="750" dirty="0"/>
          </a:p>
        </p:txBody>
      </p:sp>
      <p:sp>
        <p:nvSpPr>
          <p:cNvPr id="29" name="Shape 25"/>
          <p:cNvSpPr/>
          <p:nvPr/>
        </p:nvSpPr>
        <p:spPr>
          <a:xfrm>
            <a:off x="2651760" y="2845816"/>
            <a:ext cx="347472" cy="1223264"/>
          </a:xfrm>
          <a:prstGeom prst="rect">
            <a:avLst/>
          </a:prstGeom>
          <a:solidFill>
            <a:srgbClr val="007A6C"/>
          </a:solidFill>
          <a:ln w="12700">
            <a:solidFill>
              <a:srgbClr val="007A6C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2624328" y="408736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D3E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 24</a:t>
            </a:r>
            <a:endParaRPr lang="en-US" sz="750" dirty="0"/>
          </a:p>
        </p:txBody>
      </p:sp>
      <p:sp>
        <p:nvSpPr>
          <p:cNvPr id="31" name="Shape 27"/>
          <p:cNvSpPr/>
          <p:nvPr/>
        </p:nvSpPr>
        <p:spPr>
          <a:xfrm>
            <a:off x="3063240" y="2988056"/>
            <a:ext cx="347472" cy="108102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035808" y="408736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D3E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 24</a:t>
            </a:r>
            <a:endParaRPr lang="en-US" sz="750" dirty="0"/>
          </a:p>
        </p:txBody>
      </p:sp>
      <p:sp>
        <p:nvSpPr>
          <p:cNvPr id="33" name="Shape 29"/>
          <p:cNvSpPr/>
          <p:nvPr/>
        </p:nvSpPr>
        <p:spPr>
          <a:xfrm>
            <a:off x="3474720" y="2703576"/>
            <a:ext cx="347472" cy="136550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447288" y="408736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D3E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Jan 25</a:t>
            </a:r>
            <a:endParaRPr lang="en-US" sz="750" dirty="0"/>
          </a:p>
        </p:txBody>
      </p:sp>
      <p:sp>
        <p:nvSpPr>
          <p:cNvPr id="35" name="Shape 31"/>
          <p:cNvSpPr/>
          <p:nvPr/>
        </p:nvSpPr>
        <p:spPr>
          <a:xfrm>
            <a:off x="3886200" y="2419096"/>
            <a:ext cx="347472" cy="164998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858768" y="408736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D3E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Feb 25</a:t>
            </a:r>
            <a:endParaRPr lang="en-US" sz="750" dirty="0"/>
          </a:p>
        </p:txBody>
      </p:sp>
      <p:sp>
        <p:nvSpPr>
          <p:cNvPr id="37" name="Shape 33"/>
          <p:cNvSpPr/>
          <p:nvPr/>
        </p:nvSpPr>
        <p:spPr>
          <a:xfrm>
            <a:off x="4297680" y="2182978"/>
            <a:ext cx="347472" cy="188610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270248" y="408736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D3E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 25</a:t>
            </a:r>
            <a:endParaRPr lang="en-US" sz="750" dirty="0"/>
          </a:p>
        </p:txBody>
      </p:sp>
      <p:sp>
        <p:nvSpPr>
          <p:cNvPr id="39" name="Shape 35"/>
          <p:cNvSpPr/>
          <p:nvPr/>
        </p:nvSpPr>
        <p:spPr>
          <a:xfrm>
            <a:off x="4709160" y="2618232"/>
            <a:ext cx="347472" cy="145084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4681728" y="408736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D3E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 25</a:t>
            </a:r>
            <a:endParaRPr lang="en-US" sz="750" dirty="0"/>
          </a:p>
        </p:txBody>
      </p:sp>
      <p:sp>
        <p:nvSpPr>
          <p:cNvPr id="41" name="Shape 37"/>
          <p:cNvSpPr/>
          <p:nvPr/>
        </p:nvSpPr>
        <p:spPr>
          <a:xfrm>
            <a:off x="5120640" y="2931160"/>
            <a:ext cx="347472" cy="1137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5093208" y="408736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D3E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May 25</a:t>
            </a:r>
            <a:endParaRPr lang="en-US" sz="750" dirty="0"/>
          </a:p>
        </p:txBody>
      </p:sp>
      <p:sp>
        <p:nvSpPr>
          <p:cNvPr id="43" name="Shape 39"/>
          <p:cNvSpPr/>
          <p:nvPr/>
        </p:nvSpPr>
        <p:spPr>
          <a:xfrm>
            <a:off x="594360" y="4389120"/>
            <a:ext cx="201168" cy="146304"/>
          </a:xfrm>
          <a:prstGeom prst="rect">
            <a:avLst/>
          </a:prstGeom>
          <a:solidFill>
            <a:srgbClr val="007A6C"/>
          </a:solidFill>
          <a:ln w="12700">
            <a:solidFill>
              <a:srgbClr val="007A6C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841248" y="43708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Kharif Season (Jun–Nov)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2834640" y="4389120"/>
            <a:ext cx="201168" cy="14630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3081528" y="43708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 Season (Dec–May)</a:t>
            </a:r>
            <a:endParaRPr lang="en-US" sz="900" dirty="0"/>
          </a:p>
        </p:txBody>
      </p:sp>
      <p:sp>
        <p:nvSpPr>
          <p:cNvPr id="47" name="Shape 43"/>
          <p:cNvSpPr/>
          <p:nvPr/>
        </p:nvSpPr>
        <p:spPr>
          <a:xfrm>
            <a:off x="6126480" y="685800"/>
            <a:ext cx="2788920" cy="987552"/>
          </a:xfrm>
          <a:prstGeom prst="rect">
            <a:avLst/>
          </a:prstGeom>
          <a:solidFill>
            <a:srgbClr val="D0F0EB"/>
          </a:solidFill>
          <a:ln w="19050">
            <a:solidFill>
              <a:srgbClr val="007A6C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6236208" y="72237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 Kharif Peak (Aug 2024)</a:t>
            </a:r>
            <a:endParaRPr lang="en-US" sz="1050" dirty="0"/>
          </a:p>
        </p:txBody>
      </p:sp>
      <p:sp>
        <p:nvSpPr>
          <p:cNvPr id="49" name="Text 45"/>
          <p:cNvSpPr/>
          <p:nvPr/>
        </p:nvSpPr>
        <p:spPr>
          <a:xfrm>
            <a:off x="6236208" y="960120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A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NDVI = 0.754</a:t>
            </a:r>
            <a:endParaRPr lang="en-US" sz="1200" dirty="0"/>
          </a:p>
        </p:txBody>
      </p:sp>
      <p:sp>
        <p:nvSpPr>
          <p:cNvPr id="50" name="Text 46"/>
          <p:cNvSpPr/>
          <p:nvPr/>
        </p:nvSpPr>
        <p:spPr>
          <a:xfrm>
            <a:off x="6236208" y="1161288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season at maximum greenness. Highest productivity period for AGC estimation.</a:t>
            </a:r>
            <a:endParaRPr lang="en-US" sz="950" dirty="0"/>
          </a:p>
        </p:txBody>
      </p:sp>
      <p:sp>
        <p:nvSpPr>
          <p:cNvPr id="51" name="Shape 47"/>
          <p:cNvSpPr/>
          <p:nvPr/>
        </p:nvSpPr>
        <p:spPr>
          <a:xfrm>
            <a:off x="6126480" y="1746504"/>
            <a:ext cx="2788920" cy="987552"/>
          </a:xfrm>
          <a:prstGeom prst="rect">
            <a:avLst/>
          </a:prstGeom>
          <a:solidFill>
            <a:srgbClr val="E3F2FD"/>
          </a:solidFill>
          <a:ln w="19050">
            <a:solidFill>
              <a:srgbClr val="0D2137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6236208" y="178308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 Rabi Peak (Mar 2025)</a:t>
            </a:r>
            <a:endParaRPr lang="en-US" sz="1050" dirty="0"/>
          </a:p>
        </p:txBody>
      </p:sp>
      <p:sp>
        <p:nvSpPr>
          <p:cNvPr id="53" name="Text 49"/>
          <p:cNvSpPr/>
          <p:nvPr/>
        </p:nvSpPr>
        <p:spPr>
          <a:xfrm>
            <a:off x="6236208" y="2020824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NDVI = 0.663</a:t>
            </a:r>
            <a:endParaRPr lang="en-US" sz="1200" dirty="0"/>
          </a:p>
        </p:txBody>
      </p:sp>
      <p:sp>
        <p:nvSpPr>
          <p:cNvPr id="54" name="Text 50"/>
          <p:cNvSpPr/>
          <p:nvPr/>
        </p:nvSpPr>
        <p:spPr>
          <a:xfrm>
            <a:off x="6236208" y="2221992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Wheat season peak. Second major cropping period captured in the annual stack.</a:t>
            </a:r>
            <a:endParaRPr lang="en-US" sz="950" dirty="0"/>
          </a:p>
        </p:txBody>
      </p:sp>
      <p:sp>
        <p:nvSpPr>
          <p:cNvPr id="55" name="Shape 51"/>
          <p:cNvSpPr/>
          <p:nvPr/>
        </p:nvSpPr>
        <p:spPr>
          <a:xfrm>
            <a:off x="6126480" y="2807208"/>
            <a:ext cx="2788920" cy="987552"/>
          </a:xfrm>
          <a:prstGeom prst="rect">
            <a:avLst/>
          </a:prstGeom>
          <a:solidFill>
            <a:srgbClr val="FFF8E1"/>
          </a:solidFill>
          <a:ln w="19050">
            <a:solidFill>
              <a:srgbClr val="5B4400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6236208" y="284378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NDVI Trend Feature</a:t>
            </a:r>
            <a:endParaRPr lang="en-US" sz="1050" dirty="0"/>
          </a:p>
        </p:txBody>
      </p:sp>
      <p:sp>
        <p:nvSpPr>
          <p:cNvPr id="57" name="Text 53"/>
          <p:cNvSpPr/>
          <p:nvPr/>
        </p:nvSpPr>
        <p:spPr>
          <a:xfrm>
            <a:off x="6236208" y="3081528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4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Feature</a:t>
            </a:r>
            <a:endParaRPr lang="en-US" sz="1200" dirty="0"/>
          </a:p>
        </p:txBody>
      </p:sp>
      <p:sp>
        <p:nvSpPr>
          <p:cNvPr id="58" name="Text 54"/>
          <p:cNvSpPr/>
          <p:nvPr/>
        </p:nvSpPr>
        <p:spPr>
          <a:xfrm>
            <a:off x="6236208" y="3282696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12-point linear slope captures improving or declining vegetation — key to raising R² from 0.4757 to 0.5426.</a:t>
            </a:r>
            <a:endParaRPr lang="en-US" sz="950" dirty="0"/>
          </a:p>
        </p:txBody>
      </p:sp>
      <p:sp>
        <p:nvSpPr>
          <p:cNvPr id="59" name="Shape 55"/>
          <p:cNvSpPr/>
          <p:nvPr/>
        </p:nvSpPr>
        <p:spPr>
          <a:xfrm>
            <a:off x="6126480" y="3867912"/>
            <a:ext cx="2788920" cy="987552"/>
          </a:xfrm>
          <a:prstGeom prst="rect">
            <a:avLst/>
          </a:prstGeom>
          <a:solidFill>
            <a:srgbClr val="F3E5F5"/>
          </a:solidFill>
          <a:ln w="19050">
            <a:solidFill>
              <a:srgbClr val="4A148C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6236208" y="390448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Feature Impact</a:t>
            </a:r>
            <a:endParaRPr lang="en-US" sz="1050" dirty="0"/>
          </a:p>
        </p:txBody>
      </p:sp>
      <p:sp>
        <p:nvSpPr>
          <p:cNvPr id="61" name="Text 57"/>
          <p:cNvSpPr/>
          <p:nvPr/>
        </p:nvSpPr>
        <p:spPr>
          <a:xfrm>
            <a:off x="6236208" y="414223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14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 Total Inputs</a:t>
            </a:r>
            <a:endParaRPr lang="en-US" sz="1200" dirty="0"/>
          </a:p>
        </p:txBody>
      </p:sp>
      <p:sp>
        <p:nvSpPr>
          <p:cNvPr id="62" name="Text 58"/>
          <p:cNvSpPr/>
          <p:nvPr/>
        </p:nvSpPr>
        <p:spPr>
          <a:xfrm>
            <a:off x="6236208" y="4343400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environmental features + 12 monthly NDVI bands. NDVI months rank among top features in Random Forest importance.</a:t>
            </a:r>
            <a:endParaRPr lang="en-US" sz="950" dirty="0"/>
          </a:p>
        </p:txBody>
      </p:sp>
      <p:sp>
        <p:nvSpPr>
          <p:cNvPr id="63" name="Shape 5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Institute of Remote Sensing (IIRS) — BDA Project 2025-26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788920" cy="3977640"/>
          </a:xfrm>
          <a:prstGeom prst="rect">
            <a:avLst/>
          </a:prstGeom>
          <a:solidFill>
            <a:srgbClr val="EBF5FB"/>
          </a:solidFill>
          <a:ln w="12700">
            <a:solidFill>
              <a:srgbClr val="D0D0D0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77240"/>
            <a:ext cx="2788920" cy="43891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046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16736"/>
            <a:ext cx="2606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316736"/>
            <a:ext cx="73152" cy="56692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716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 / JavaScript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975104"/>
            <a:ext cx="2606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975104"/>
            <a:ext cx="73152" cy="56692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2996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 — Interactive Map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633472"/>
            <a:ext cx="2606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633472"/>
            <a:ext cx="73152" cy="56692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8833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— Analytics Dashboard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291840"/>
            <a:ext cx="2606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291840"/>
            <a:ext cx="73152" cy="56692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34670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Satellite Basemap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017520" y="2743200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3200400" y="777240"/>
            <a:ext cx="2788920" cy="3977640"/>
          </a:xfrm>
          <a:prstGeom prst="rect">
            <a:avLst/>
          </a:prstGeom>
          <a:solidFill>
            <a:srgbClr val="F0FAF7"/>
          </a:solidFill>
          <a:ln w="12700">
            <a:solidFill>
              <a:srgbClr val="D0D0D0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777240"/>
            <a:ext cx="2788920" cy="43891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8046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Layer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91840" y="1316736"/>
            <a:ext cx="2606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1840" y="1316736"/>
            <a:ext cx="73152" cy="56692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9000" y="13716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/ Flask REST API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91840" y="1975104"/>
            <a:ext cx="2606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1975104"/>
            <a:ext cx="73152" cy="56692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29000" y="202996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/api/geojson — Map polygons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91840" y="2633472"/>
            <a:ext cx="2606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91840" y="2633472"/>
            <a:ext cx="73152" cy="56692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29000" y="268833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/api/carbon — Predictions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91840" y="3291840"/>
            <a:ext cx="2606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91840" y="3291840"/>
            <a:ext cx="73152" cy="56692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29000" y="334670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/api/ndvi — Seasonal data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989320" y="2743200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6172200" y="777240"/>
            <a:ext cx="2788920" cy="3977640"/>
          </a:xfrm>
          <a:prstGeom prst="rect">
            <a:avLst/>
          </a:prstGeom>
          <a:solidFill>
            <a:srgbClr val="FEF9E7"/>
          </a:solidFill>
          <a:ln w="12700">
            <a:solidFill>
              <a:srgbClr val="D0D0D0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72200" y="777240"/>
            <a:ext cx="2788920" cy="43891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8046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263640" y="1316736"/>
            <a:ext cx="2606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63640" y="1316736"/>
            <a:ext cx="73152" cy="56692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13716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 (Supabase)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263640" y="1975104"/>
            <a:ext cx="2606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63640" y="1975104"/>
            <a:ext cx="73152" cy="56692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0" y="202996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geometries — 66,790 cells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263640" y="2633472"/>
            <a:ext cx="2606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63640" y="2633472"/>
            <a:ext cx="73152" cy="56692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0" y="268833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(cloud)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263640" y="3291840"/>
            <a:ext cx="2606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63640" y="3291840"/>
            <a:ext cx="73152" cy="56692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0" y="334670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predictions — all cells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2926080" y="4617720"/>
            <a:ext cx="3291840" cy="237744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926080" y="462686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Deployed on Render Cloud  |  https://carbon-intelligence.onrender.com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Institute of Remote Sensing (IIRS) — BDA Project 2025-26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 APPLICATION FEATURES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761488" cy="1901952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2761488" cy="40233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59536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 Interactive 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" y="1298448"/>
            <a:ext cx="2542032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250m grid polygons on Google Satellite. Switch between Elevation, Agri Class, AGC, BGC layers. Click any cell for detailed popup.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72968" y="822960"/>
            <a:ext cx="2761488" cy="1901952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72968" y="822960"/>
            <a:ext cx="2761488" cy="402336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72968" y="859536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Analytics Dashboard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82696" y="1298448"/>
            <a:ext cx="2542032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pool bar/donut charts, monthly NDVI line chart, AGC/BGC distribution histograms.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17336" y="822960"/>
            <a:ext cx="2761488" cy="1901952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17336" y="822960"/>
            <a:ext cx="2761488" cy="40233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17336" y="859536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Model Performance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27064" y="1298448"/>
            <a:ext cx="2542032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ring charts, RMSE/MAE metrics, feature importance bar chart, full model comparison table.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2852928"/>
            <a:ext cx="2761488" cy="1901952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852928"/>
            <a:ext cx="2761488" cy="402336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2889504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Data Explorer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" y="3328416"/>
            <a:ext cx="2542032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all 66,790 predictions. Filter by cell index or carbon range. Export to CSV. AGC vs BGC scatter plot.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72968" y="2852928"/>
            <a:ext cx="2761488" cy="1901952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72968" y="2852928"/>
            <a:ext cx="2761488" cy="40233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72968" y="2889504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🛰  Basemap Switching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82696" y="3328416"/>
            <a:ext cx="2542032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Satellite, Hybrid, Street, and Dark modes. Correct Indian borders on all tile layers.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Institute of Remote Sensing (IIRS) — BDA Project 2025-26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FINDINGS &amp; DISCUSSION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896112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594360" cy="89611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78992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89611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dominates carbon storage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225296"/>
            <a:ext cx="7680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Below-ground carbon (96.92%) far exceeds above-ground, confirming soil as the primary carbon reservoir in agricultural landscapes.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828800"/>
            <a:ext cx="8595360" cy="896112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828800"/>
            <a:ext cx="594360" cy="89611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84832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190195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BGC model accuracy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231136"/>
            <a:ext cx="7680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0.9665 for SOC prediction demonstrates that soil properties (clay, bulk density, DEM) are powerful predictors of soil carbon.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8595360" cy="896112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834640"/>
            <a:ext cx="594360" cy="89611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090672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290779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AGC model performance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236976"/>
            <a:ext cx="7680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0.5426 for NPP is typical for satellite-derived biomass estimation and can be improved with field-validated training data.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840480"/>
            <a:ext cx="8595360" cy="896112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840480"/>
            <a:ext cx="594360" cy="89611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096512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5840" y="391363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NDVI reveals crop calendar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242816"/>
            <a:ext cx="7680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bimodal NDVI pattern confirms Kharif (rice, peak Aug) and Rabi (wheat, peak Mar) crop cycles across the district.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Institute of Remote Sensing (IIRS) — BDA Project 2025-26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SCOPE &amp; IMPROVEMENTS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761488" cy="1865376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2761488" cy="40233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59536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Multi-Temporal Analysis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" y="1298448"/>
            <a:ext cx="25420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carbon stock changes year-over-year to identify degradation or sequestration trends across the district.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72968" y="822960"/>
            <a:ext cx="2761488" cy="1865376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72968" y="822960"/>
            <a:ext cx="2761488" cy="402336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72968" y="859536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Field Validation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82696" y="1298448"/>
            <a:ext cx="25420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ground-truth soil sampling data to improve model accuracy, especially for the NPP/AGC model.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17336" y="822960"/>
            <a:ext cx="2761488" cy="1865376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17336" y="822960"/>
            <a:ext cx="2761488" cy="40233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17336" y="859536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 State-Wide Expansion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27064" y="1298448"/>
            <a:ext cx="25420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methodology to all 22 districts of Punjab to build a complete state-level carbon inventory.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72968" y="2816352"/>
            <a:ext cx="2761488" cy="1865376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72968" y="2816352"/>
            <a:ext cx="2761488" cy="40233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72968" y="2852928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Optimisation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82696" y="3291840"/>
            <a:ext cx="25420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the web app for mobile devices to allow field officers to access the map on handheld devices.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17336" y="2816352"/>
            <a:ext cx="2761488" cy="1865376"/>
          </a:xfrm>
          <a:prstGeom prst="rect">
            <a:avLst/>
          </a:prstGeom>
          <a:solidFill>
            <a:srgbClr val="EAF4FB"/>
          </a:solidFill>
          <a:ln w="12700">
            <a:solidFill>
              <a:srgbClr val="D0E8F5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17336" y="2816352"/>
            <a:ext cx="2761488" cy="40233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17336" y="2852928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Security Hardening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27064" y="3291840"/>
            <a:ext cx="25420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all database credentials to environment variables and implement role-based access control.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Institute of Remote Sensing (IIRS) — BDA Project 2025-26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766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SUPPORTING LITERATURE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256032" y="749808"/>
            <a:ext cx="4224528" cy="2029968"/>
          </a:xfrm>
          <a:prstGeom prst="rect">
            <a:avLst/>
          </a:prstGeom>
          <a:solidFill>
            <a:srgbClr val="E0F2F1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256032" y="749808"/>
            <a:ext cx="4224528" cy="384048"/>
          </a:xfrm>
          <a:prstGeom prst="rect">
            <a:avLst/>
          </a:prstGeom>
          <a:solidFill>
            <a:srgbClr val="007A6C"/>
          </a:solidFill>
          <a:ln w="12700">
            <a:solidFill>
              <a:srgbClr val="007A6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84048" y="749808"/>
            <a:ext cx="4041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Above-Ground Carbon / NPP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310896" y="118872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20624" y="1225296"/>
            <a:ext cx="3913632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Zhao, F. et al. (2014). Remote sensing estimates of grassland AGB based on MODIS NPP. Remote Sensing, 6(6), 5368.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Eisfelder, C. et al. (2017). Above-ground biomass estimation based on NPP time-series. Ecological Indicators.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Tian, L. et al. (2023). Review of remote sensing-based AGB estimation methods. Forests, 14(6), 1086.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Cheng, F. et al. (2024). Forest carbon stock estimation using ML. Forests, 15(4), 681.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663440" y="749808"/>
            <a:ext cx="4224528" cy="2029968"/>
          </a:xfrm>
          <a:prstGeom prst="rect">
            <a:avLst/>
          </a:prstGeom>
          <a:solidFill>
            <a:srgbClr val="E3F2FD"/>
          </a:solidFill>
          <a:ln w="19050">
            <a:solidFill>
              <a:srgbClr val="1E4A7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663440" y="749808"/>
            <a:ext cx="4224528" cy="38404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791456" y="749808"/>
            <a:ext cx="4041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MODIS NPP &amp; Carbon Cycle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718304" y="118872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828032" y="1225296"/>
            <a:ext cx="3913632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Running, S.W. et al. (2004). A continuous satellite-derived measure of global terrestrial primary production. BioScience, 54(6).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Zhao, M. &amp; Running, S.W. (2010). Drought-induced reduction in global terrestrial net primary production. Science, 329(5994).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256032" y="2889504"/>
            <a:ext cx="4224528" cy="2029968"/>
          </a:xfrm>
          <a:prstGeom prst="rect">
            <a:avLst/>
          </a:prstGeom>
          <a:solidFill>
            <a:srgbClr val="E8F5E9"/>
          </a:solidFill>
          <a:ln w="19050">
            <a:solidFill>
              <a:srgbClr val="388E3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56032" y="2889504"/>
            <a:ext cx="4224528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84048" y="2889504"/>
            <a:ext cx="4041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Organic Carbon (BGC)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310896" y="3328416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20624" y="3364992"/>
            <a:ext cx="3913632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Hengl, T. et al. (2017). SoilGrids250m: Global gridded soil information based on machine learning. PLoS ONE.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Pham, T.D. et al. (2021). Improvement of soil carbon stock using Sentinel-2 + ML. GIS &amp; Remote Sensing.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Lee, J. et al. (2009). Determining soil carbon stock changes. Agriculture, Ecosystems &amp; Environment.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Don, A. et al. (2007). Spatial and vertical variation of soil carbon. Geoderma.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4663440" y="2889504"/>
            <a:ext cx="4224528" cy="2029968"/>
          </a:xfrm>
          <a:prstGeom prst="rect">
            <a:avLst/>
          </a:prstGeom>
          <a:solidFill>
            <a:srgbClr val="F3E5F5"/>
          </a:solidFill>
          <a:ln w="19050">
            <a:solidFill>
              <a:srgbClr val="8E24A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663440" y="2889504"/>
            <a:ext cx="4224528" cy="38404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791456" y="2889504"/>
            <a:ext cx="4041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Formulas &amp; IPCC Standards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4718304" y="3328416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828032" y="3364992"/>
            <a:ext cx="3913632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IPCC (2006). 2006 IPCC Guidelines for National GHG Inventories. IGES, Japan.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Requena Suarez, D. et al. (2019). Estimating AGB change — confirms IPCC carbon fraction = 0.47. Global Change Biology.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Xu, H. et al. (2024). Global forest plantations mapping and biomass carbon estimation — uses 0.47 IPCC factor. JGR Biogeosciences.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Poggio, L. et al. (2021). SoilGrids 2.0: producing soil information for the globe. SOIL, 7, 217–240.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Institute of Remote Sensing (IIRS) — BDA Project 2025-26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556879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766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 FROM REFERENCE LITERATURE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256032" y="666496"/>
            <a:ext cx="4224528" cy="2084832"/>
          </a:xfrm>
          <a:prstGeom prst="rect">
            <a:avLst/>
          </a:prstGeom>
          <a:solidFill>
            <a:srgbClr val="E0F2F1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256032" y="652949"/>
            <a:ext cx="4224528" cy="384048"/>
          </a:xfrm>
          <a:prstGeom prst="rect">
            <a:avLst/>
          </a:prstGeom>
          <a:solidFill>
            <a:srgbClr val="007A6C"/>
          </a:solidFill>
          <a:ln w="12700">
            <a:solidFill>
              <a:srgbClr val="007A6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84048" y="652949"/>
            <a:ext cx="4041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NPP &amp; Above-Ground Carbon Estimation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10896" y="1105408"/>
            <a:ext cx="411480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20624" y="1151128"/>
            <a:ext cx="3895344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MODIS NPP is a validated proxy for above-ground biomass — direct NPP → carbon linkage confirmed (Zhao 2014; Running 2004).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NDVI and NPP stacks significantly improve biomass prediction over single-date values (Eisfelder 2017).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and ensemble ML methods are the leading approaches for remote-sensing-based carbon estimation (Tian 2023; Cheng 2024).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NDVI trend (slope feature) captures crop productivity dynamics — key justification for our 12-month NDVI stack.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663440" y="652949"/>
            <a:ext cx="4224528" cy="2084832"/>
          </a:xfrm>
          <a:prstGeom prst="rect">
            <a:avLst/>
          </a:prstGeom>
          <a:solidFill>
            <a:srgbClr val="E3F2FD"/>
          </a:solidFill>
          <a:ln w="19050">
            <a:solidFill>
              <a:srgbClr val="1E4A7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663440" y="652949"/>
            <a:ext cx="4224528" cy="38404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791456" y="652949"/>
            <a:ext cx="4041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Carbon Cycle &amp; MODIS Productivity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718304" y="1091861"/>
            <a:ext cx="411480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791456" y="1086442"/>
            <a:ext cx="3895344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MODIS MOD17A3HGF provides a continuous, globally consistent NPP product (500 m) — foundational to our AGC pipeline (Running 2004).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Vegetation productivity is tightly coupled to precipitation and temperature — supporting Rabi_Preci as the strongest AGC feature (Zhao &amp; Running 2010).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Drought-driven NPP decline demonstrates inter-annual variability — motivating multi-year temporal carbon monitoring for Ludhiana.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Satellite-derived NPP is the internationally accepted standard for terrestrial productivity in carbon accounting.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256032" y="2779776"/>
            <a:ext cx="4224528" cy="2121408"/>
          </a:xfrm>
          <a:prstGeom prst="rect">
            <a:avLst/>
          </a:prstGeom>
          <a:solidFill>
            <a:srgbClr val="E8F5E9"/>
          </a:solidFill>
          <a:ln w="19050">
            <a:solidFill>
              <a:srgbClr val="388E3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56032" y="2779776"/>
            <a:ext cx="4224528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84048" y="2779776"/>
            <a:ext cx="4041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🪨  Soil Organic Carbon — BGC Modelling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310896" y="3218688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20624" y="3273552"/>
            <a:ext cx="389534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SoilGrids 2.0 provides global grid-based SOC, bulk density, clay, and sand used directly as BGC model inputs (Hengl 2017; Poggio 2021).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+ SoilGrids + RF achieves high SOC accuracy — consistent with our BGC R² = 0.9665 (Pham 2021).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BGC stock = SOC × bulk density × depth — equation validated across agricultural settings (Lee 2009; Don 2007).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density dominates SOC stock variance at 93% model importance — confirmed as the primary scaling parameter (Lee 2009).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4663440" y="2816352"/>
            <a:ext cx="4224528" cy="2084832"/>
          </a:xfrm>
          <a:prstGeom prst="rect">
            <a:avLst/>
          </a:prstGeom>
          <a:solidFill>
            <a:srgbClr val="F3E5F5"/>
          </a:solidFill>
          <a:ln w="19050">
            <a:solidFill>
              <a:srgbClr val="8E24A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663440" y="2779776"/>
            <a:ext cx="4224528" cy="38404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791456" y="2779776"/>
            <a:ext cx="4041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IPCC Equations &amp; Carbon Fractions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4718304" y="3218688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828032" y="3273552"/>
            <a:ext cx="389534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fraction of biomass = 0.47 is the IPCC Tier 1 default — confirmed by Requena Suarez (2019) and Xu (2024) as the standard conversion factor.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AGC = NPP × 0.47 ÷ 100  |  BGC = SOC × BD × 30 ÷ 10 — both formulas grounded in IPCC (2006) Tier 1 guidelines.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soil depth = 30 cm for agricultural carbon accounting per IPCC Tier 1 methodology — applied consistently across all 66,790 grid cells.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SoilGrids 2.0 (Poggio 2021) is the recommended dataset for Tier 1 BGC estimation without field measurements.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Institute of Remote Sensing (IIRS) — BDA Project 2025-26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377110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3B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A2F57">
              <a:alpha val="60000"/>
            </a:srgbClr>
          </a:solidFill>
          <a:ln w="12700">
            <a:solidFill>
              <a:srgbClr val="0A2F57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1ABC9C">
              <a:alpha val="20000"/>
            </a:srgbClr>
          </a:solidFill>
          <a:ln w="12700">
            <a:solidFill>
              <a:srgbClr val="1ABC9C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Complete Carbon Stock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Intelligence Platform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371600" y="2633472"/>
            <a:ext cx="274320" cy="2743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83080" y="2633472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54.228 million tC estimated across 66,790 grid cells at 250m resolution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71600" y="3136392"/>
            <a:ext cx="274320" cy="2743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83080" y="3136392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models trained on 22 satellite, terrain, and soil features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71600" y="3639312"/>
            <a:ext cx="274320" cy="2743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83080" y="3639312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 deployed on cloud with real-time PostGIS + MongoDB integration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371600" y="4142232"/>
            <a:ext cx="274320" cy="2743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83080" y="4142232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Leaflet map enables cell-level exploration of carbon distribution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0" y="4617720"/>
            <a:ext cx="4572000" cy="34747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0" y="463600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https://carbon-intelligence.onrender.com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2266</Words>
  <Application>Microsoft Office PowerPoint</Application>
  <PresentationFormat>On-screen Show (16:9)</PresentationFormat>
  <Paragraphs>323</Paragraphs>
  <Slides>15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Carbon Stock Intelligence System</dc:title>
  <dc:subject>PptxGenJS Presentation</dc:subject>
  <dc:creator>IIRS BDA Project 2025-26</dc:creator>
  <cp:lastModifiedBy>pcs</cp:lastModifiedBy>
  <cp:revision>9</cp:revision>
  <dcterms:created xsi:type="dcterms:W3CDTF">2026-03-23T11:10:21Z</dcterms:created>
  <dcterms:modified xsi:type="dcterms:W3CDTF">2026-07-04T17:51:36Z</dcterms:modified>
</cp:coreProperties>
</file>